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asaon-my.sharepoint.com/personal/renolda_masekoameng_prasa_com/Documents/Desktop/2026%20Project/Brightlearn/My%20AIM/Coffee%20assignment%20for%20submission/Data%20Processing/RAW%20Data%20from%20SQL%20Queri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rasaon-my.sharepoint.com/personal/renolda_masekoameng_prasa_com/Documents/Desktop/2026%20Project/Brightlearn/My%20AIM/Coffee%20assignment%20for%20submission/Data%20Processing/RAW%20Data%20from%20SQL%20Queri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prasaon-my.sharepoint.com/personal/renolda_masekoameng_prasa_com/Documents/Desktop/2026%20Project/Brightlearn/My%20AIM/Coffee%20assignment%20for%20submission/Data%20Processing/RAW%20Data%20from%20SQL%20Queri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[RAW Data from SQL Queries.xlsx]Revenue_by_Category!PivotTable2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Revenue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Revenue_by_Category!$B$3</c:f>
              <c:strCache>
                <c:ptCount val="1"/>
                <c:pt idx="0">
                  <c:v>Revenue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Revenue_by_Category!$A$4:$A$13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Revenue_by_Category!$B$4:$B$13</c:f>
              <c:numCache>
                <c:formatCode>General</c:formatCode>
                <c:ptCount val="9"/>
                <c:pt idx="0">
                  <c:v>82315.640000000029</c:v>
                </c:pt>
                <c:pt idx="1">
                  <c:v>13607</c:v>
                </c:pt>
                <c:pt idx="2">
                  <c:v>269952.4500000191</c:v>
                </c:pt>
                <c:pt idx="3">
                  <c:v>40085.249999999985</c:v>
                </c:pt>
                <c:pt idx="4">
                  <c:v>72416</c:v>
                </c:pt>
                <c:pt idx="5">
                  <c:v>8408.8000000008742</c:v>
                </c:pt>
                <c:pt idx="6">
                  <c:v>11213.600000000089</c:v>
                </c:pt>
                <c:pt idx="7">
                  <c:v>4407.6399999999885</c:v>
                </c:pt>
                <c:pt idx="8">
                  <c:v>196405.95000000976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9-479C-880E-45725A0F96CA}"/>
            </c:ext>
          </c:extLst>
        </c:ser>
        <c:ser>
          <c:idx val="1"/>
          <c:order val="1"/>
          <c:tx>
            <c:strRef>
              <c:f>Revenue_by_Category!$C$3</c:f>
              <c:strCache>
                <c:ptCount val="1"/>
                <c:pt idx="0">
                  <c:v>Sum of unit_price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Revenue_by_Category!$A$4:$A$13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Revenue_by_Category!$C$4:$C$13</c:f>
              <c:numCache>
                <c:formatCode>General</c:formatCode>
                <c:ptCount val="9"/>
                <c:pt idx="0">
                  <c:v>80964.13999999981</c:v>
                </c:pt>
                <c:pt idx="1">
                  <c:v>13237</c:v>
                </c:pt>
                <c:pt idx="2">
                  <c:v>176629.30000002333</c:v>
                </c:pt>
                <c:pt idx="3">
                  <c:v>36845.250000000015</c:v>
                </c:pt>
                <c:pt idx="4">
                  <c:v>47578.75</c:v>
                </c:pt>
                <c:pt idx="5">
                  <c:v>5432.0000000006867</c:v>
                </c:pt>
                <c:pt idx="6">
                  <c:v>11213.600000000089</c:v>
                </c:pt>
                <c:pt idx="7">
                  <c:v>4407.6399999999885</c:v>
                </c:pt>
                <c:pt idx="8">
                  <c:v>128035.35000001223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69-479C-880E-45725A0F9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3236479"/>
        <c:axId val="609522319"/>
      </c:barChart>
      <c:catAx>
        <c:axId val="119323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9522319"/>
        <c:crosses val="autoZero"/>
        <c:auto val="1"/>
        <c:lblAlgn val="ctr"/>
        <c:lblOffset val="100"/>
        <c:noMultiLvlLbl val="0"/>
      </c:catAx>
      <c:valAx>
        <c:axId val="609522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323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[RAW Data from SQL Queries.xlsx]Sales_by_TimeIntervals!PivotTable6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72 Black" panose="020B0A04030603020204" pitchFamily="34" charset="0"/>
                <a:ea typeface="+mn-ea"/>
                <a:cs typeface="72 Black" panose="020B0A04030603020204" pitchFamily="34" charset="0"/>
              </a:defRPr>
            </a:pPr>
            <a:r>
              <a:rPr lang="en-US" b="1">
                <a:latin typeface="72 Black" panose="020B0A04030603020204" pitchFamily="34" charset="0"/>
                <a:cs typeface="72 Black" panose="020B0A04030603020204" pitchFamily="34" charset="0"/>
              </a:rPr>
              <a:t>Revenue</a:t>
            </a:r>
            <a:r>
              <a:rPr lang="en-US" b="1" baseline="0">
                <a:latin typeface="72 Black" panose="020B0A04030603020204" pitchFamily="34" charset="0"/>
                <a:cs typeface="72 Black" panose="020B0A04030603020204" pitchFamily="34" charset="0"/>
              </a:rPr>
              <a:t> By Time of day (30 Min Interval)</a:t>
            </a:r>
            <a:endParaRPr lang="en-US" b="1">
              <a:latin typeface="72 Black" panose="020B0A04030603020204" pitchFamily="34" charset="0"/>
              <a:cs typeface="72 Black" panose="020B0A04030603020204" pitchFamily="34" charset="0"/>
            </a:endParaRPr>
          </a:p>
        </c:rich>
      </c:tx>
      <c:layout>
        <c:manualLayout>
          <c:xMode val="edge"/>
          <c:yMode val="edge"/>
          <c:x val="0.347451690821256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72 Black" panose="020B0A04030603020204" pitchFamily="34" charset="0"/>
              <a:ea typeface="+mn-ea"/>
              <a:cs typeface="72 Black" panose="020B0A04030603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Sales_by_TimeIntervals!$B$3</c:f>
              <c:strCache>
                <c:ptCount val="1"/>
                <c:pt idx="0">
                  <c:v>Sum of 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Sales_by_TimeIntervals!$A$4:$A$34</c:f>
              <c:strCache>
                <c:ptCount val="30"/>
                <c:pt idx="0">
                  <c:v>06:00 - 06:30</c:v>
                </c:pt>
                <c:pt idx="1">
                  <c:v>06:30 - 07:00</c:v>
                </c:pt>
                <c:pt idx="2">
                  <c:v>07:00 - 07:30</c:v>
                </c:pt>
                <c:pt idx="3">
                  <c:v>07:30 - 08:00</c:v>
                </c:pt>
                <c:pt idx="4">
                  <c:v>08:00 - 08:30</c:v>
                </c:pt>
                <c:pt idx="5">
                  <c:v>08:30 - 09:00</c:v>
                </c:pt>
                <c:pt idx="6">
                  <c:v>09:00 - 09:30</c:v>
                </c:pt>
                <c:pt idx="7">
                  <c:v>09:30 - 10:00</c:v>
                </c:pt>
                <c:pt idx="8">
                  <c:v>10:00 - 10:30</c:v>
                </c:pt>
                <c:pt idx="9">
                  <c:v>10:30 - 11:00</c:v>
                </c:pt>
                <c:pt idx="10">
                  <c:v>11:00 - 11:30</c:v>
                </c:pt>
                <c:pt idx="11">
                  <c:v>11:30 - 12:00</c:v>
                </c:pt>
                <c:pt idx="12">
                  <c:v>12:00 - 12:30</c:v>
                </c:pt>
                <c:pt idx="13">
                  <c:v>12:30 - 13:00</c:v>
                </c:pt>
                <c:pt idx="14">
                  <c:v>13:00 - 13:30</c:v>
                </c:pt>
                <c:pt idx="15">
                  <c:v>13:30 - 14:00</c:v>
                </c:pt>
                <c:pt idx="16">
                  <c:v>14:00 - 14:30</c:v>
                </c:pt>
                <c:pt idx="17">
                  <c:v>14:30 - 15:00</c:v>
                </c:pt>
                <c:pt idx="18">
                  <c:v>15:00 - 15:30</c:v>
                </c:pt>
                <c:pt idx="19">
                  <c:v>15:30 - 16:00</c:v>
                </c:pt>
                <c:pt idx="20">
                  <c:v>16:00 - 16:30</c:v>
                </c:pt>
                <c:pt idx="21">
                  <c:v>16:30 - 17:00</c:v>
                </c:pt>
                <c:pt idx="22">
                  <c:v>17:00 - 17:30</c:v>
                </c:pt>
                <c:pt idx="23">
                  <c:v>17:30 - 18:00</c:v>
                </c:pt>
                <c:pt idx="24">
                  <c:v>18:00 - 18:30</c:v>
                </c:pt>
                <c:pt idx="25">
                  <c:v>18:30 - 19:00</c:v>
                </c:pt>
                <c:pt idx="26">
                  <c:v>19:00 - 19:30</c:v>
                </c:pt>
                <c:pt idx="27">
                  <c:v>19:30 - 20:00</c:v>
                </c:pt>
                <c:pt idx="28">
                  <c:v>20:00 - 20:30</c:v>
                </c:pt>
                <c:pt idx="29">
                  <c:v>20:30 - 21:00</c:v>
                </c:pt>
              </c:strCache>
            </c:strRef>
          </c:cat>
          <c:val>
            <c:numRef>
              <c:f>Sales_by_TimeIntervals!$B$4:$B$34</c:f>
              <c:numCache>
                <c:formatCode>General</c:formatCode>
                <c:ptCount val="30"/>
                <c:pt idx="0">
                  <c:v>6620.6500000000106</c:v>
                </c:pt>
                <c:pt idx="1">
                  <c:v>15279.620000000048</c:v>
                </c:pt>
                <c:pt idx="2">
                  <c:v>29888.26999999992</c:v>
                </c:pt>
                <c:pt idx="3">
                  <c:v>33638.199999999917</c:v>
                </c:pt>
                <c:pt idx="4">
                  <c:v>41306.879999999743</c:v>
                </c:pt>
                <c:pt idx="5">
                  <c:v>41392.989999999743</c:v>
                </c:pt>
                <c:pt idx="6">
                  <c:v>42384.46999999971</c:v>
                </c:pt>
                <c:pt idx="7">
                  <c:v>42785.05999999983</c:v>
                </c:pt>
                <c:pt idx="8">
                  <c:v>43706.799999999756</c:v>
                </c:pt>
                <c:pt idx="9">
                  <c:v>44966.589999999618</c:v>
                </c:pt>
                <c:pt idx="10">
                  <c:v>25608.590000000011</c:v>
                </c:pt>
                <c:pt idx="11">
                  <c:v>20710.550000000043</c:v>
                </c:pt>
                <c:pt idx="12">
                  <c:v>20583.990000000042</c:v>
                </c:pt>
                <c:pt idx="13">
                  <c:v>19608.800000000039</c:v>
                </c:pt>
                <c:pt idx="14">
                  <c:v>19999.100000000024</c:v>
                </c:pt>
                <c:pt idx="15">
                  <c:v>20368.350000000017</c:v>
                </c:pt>
                <c:pt idx="16">
                  <c:v>21508.040000000026</c:v>
                </c:pt>
                <c:pt idx="17">
                  <c:v>19796.700000000041</c:v>
                </c:pt>
                <c:pt idx="18">
                  <c:v>20288.550000000036</c:v>
                </c:pt>
                <c:pt idx="19">
                  <c:v>21444.550000000017</c:v>
                </c:pt>
                <c:pt idx="20">
                  <c:v>21005.980000000032</c:v>
                </c:pt>
                <c:pt idx="21">
                  <c:v>20116.770000000033</c:v>
                </c:pt>
                <c:pt idx="22">
                  <c:v>19535.900000000041</c:v>
                </c:pt>
                <c:pt idx="23">
                  <c:v>20598.410000000051</c:v>
                </c:pt>
                <c:pt idx="24">
                  <c:v>19521.340000000051</c:v>
                </c:pt>
                <c:pt idx="25">
                  <c:v>14764.860000000033</c:v>
                </c:pt>
                <c:pt idx="26">
                  <c:v>14417.080000000034</c:v>
                </c:pt>
                <c:pt idx="27">
                  <c:v>14029.600000000048</c:v>
                </c:pt>
                <c:pt idx="28">
                  <c:v>1327.04</c:v>
                </c:pt>
                <c:pt idx="29">
                  <c:v>1608.599999999999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3B-456F-8C2D-7024656AC89D}"/>
            </c:ext>
          </c:extLst>
        </c:ser>
        <c:ser>
          <c:idx val="1"/>
          <c:order val="1"/>
          <c:tx>
            <c:strRef>
              <c:f>Sales_by_TimeIntervals!$C$3</c:f>
              <c:strCache>
                <c:ptCount val="1"/>
                <c:pt idx="0">
                  <c:v>Sum of unit_price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Sales_by_TimeIntervals!$A$4:$A$34</c:f>
              <c:strCache>
                <c:ptCount val="30"/>
                <c:pt idx="0">
                  <c:v>06:00 - 06:30</c:v>
                </c:pt>
                <c:pt idx="1">
                  <c:v>06:30 - 07:00</c:v>
                </c:pt>
                <c:pt idx="2">
                  <c:v>07:00 - 07:30</c:v>
                </c:pt>
                <c:pt idx="3">
                  <c:v>07:30 - 08:00</c:v>
                </c:pt>
                <c:pt idx="4">
                  <c:v>08:00 - 08:30</c:v>
                </c:pt>
                <c:pt idx="5">
                  <c:v>08:30 - 09:00</c:v>
                </c:pt>
                <c:pt idx="6">
                  <c:v>09:00 - 09:30</c:v>
                </c:pt>
                <c:pt idx="7">
                  <c:v>09:30 - 10:00</c:v>
                </c:pt>
                <c:pt idx="8">
                  <c:v>10:00 - 10:30</c:v>
                </c:pt>
                <c:pt idx="9">
                  <c:v>10:30 - 11:00</c:v>
                </c:pt>
                <c:pt idx="10">
                  <c:v>11:00 - 11:30</c:v>
                </c:pt>
                <c:pt idx="11">
                  <c:v>11:30 - 12:00</c:v>
                </c:pt>
                <c:pt idx="12">
                  <c:v>12:00 - 12:30</c:v>
                </c:pt>
                <c:pt idx="13">
                  <c:v>12:30 - 13:00</c:v>
                </c:pt>
                <c:pt idx="14">
                  <c:v>13:00 - 13:30</c:v>
                </c:pt>
                <c:pt idx="15">
                  <c:v>13:30 - 14:00</c:v>
                </c:pt>
                <c:pt idx="16">
                  <c:v>14:00 - 14:30</c:v>
                </c:pt>
                <c:pt idx="17">
                  <c:v>14:30 - 15:00</c:v>
                </c:pt>
                <c:pt idx="18">
                  <c:v>15:00 - 15:30</c:v>
                </c:pt>
                <c:pt idx="19">
                  <c:v>15:30 - 16:00</c:v>
                </c:pt>
                <c:pt idx="20">
                  <c:v>16:00 - 16:30</c:v>
                </c:pt>
                <c:pt idx="21">
                  <c:v>16:30 - 17:00</c:v>
                </c:pt>
                <c:pt idx="22">
                  <c:v>17:00 - 17:30</c:v>
                </c:pt>
                <c:pt idx="23">
                  <c:v>17:30 - 18:00</c:v>
                </c:pt>
                <c:pt idx="24">
                  <c:v>18:00 - 18:30</c:v>
                </c:pt>
                <c:pt idx="25">
                  <c:v>18:30 - 19:00</c:v>
                </c:pt>
                <c:pt idx="26">
                  <c:v>19:00 - 19:30</c:v>
                </c:pt>
                <c:pt idx="27">
                  <c:v>19:30 - 20:00</c:v>
                </c:pt>
                <c:pt idx="28">
                  <c:v>20:00 - 20:30</c:v>
                </c:pt>
                <c:pt idx="29">
                  <c:v>20:30 - 21:00</c:v>
                </c:pt>
              </c:strCache>
            </c:strRef>
          </c:cat>
          <c:val>
            <c:numRef>
              <c:f>Sales_by_TimeIntervals!$C$4:$C$34</c:f>
              <c:numCache>
                <c:formatCode>General</c:formatCode>
                <c:ptCount val="30"/>
                <c:pt idx="0">
                  <c:v>4509.300000000002</c:v>
                </c:pt>
                <c:pt idx="1">
                  <c:v>10795.120000000015</c:v>
                </c:pt>
                <c:pt idx="2">
                  <c:v>21681.019999999884</c:v>
                </c:pt>
                <c:pt idx="3">
                  <c:v>24417.099999999908</c:v>
                </c:pt>
                <c:pt idx="4">
                  <c:v>30328.329999999747</c:v>
                </c:pt>
                <c:pt idx="5">
                  <c:v>30473.539999999713</c:v>
                </c:pt>
                <c:pt idx="6">
                  <c:v>30481.169999999769</c:v>
                </c:pt>
                <c:pt idx="7">
                  <c:v>30952.209999999781</c:v>
                </c:pt>
                <c:pt idx="8">
                  <c:v>32371.899999999692</c:v>
                </c:pt>
                <c:pt idx="9">
                  <c:v>32486.089999999695</c:v>
                </c:pt>
                <c:pt idx="10">
                  <c:v>17913.690000000028</c:v>
                </c:pt>
                <c:pt idx="11">
                  <c:v>14625.10000000006</c:v>
                </c:pt>
                <c:pt idx="12">
                  <c:v>14599.790000000059</c:v>
                </c:pt>
                <c:pt idx="13">
                  <c:v>13867.300000000052</c:v>
                </c:pt>
                <c:pt idx="14">
                  <c:v>14545.200000000061</c:v>
                </c:pt>
                <c:pt idx="15">
                  <c:v>14745.700000000055</c:v>
                </c:pt>
                <c:pt idx="16">
                  <c:v>15554.690000000039</c:v>
                </c:pt>
                <c:pt idx="17">
                  <c:v>13958.550000000054</c:v>
                </c:pt>
                <c:pt idx="18">
                  <c:v>14390.200000000059</c:v>
                </c:pt>
                <c:pt idx="19">
                  <c:v>15630.250000000073</c:v>
                </c:pt>
                <c:pt idx="20">
                  <c:v>15330.480000000067</c:v>
                </c:pt>
                <c:pt idx="21">
                  <c:v>14663.92000000006</c:v>
                </c:pt>
                <c:pt idx="22">
                  <c:v>13823.500000000064</c:v>
                </c:pt>
                <c:pt idx="23">
                  <c:v>14586.760000000058</c:v>
                </c:pt>
                <c:pt idx="24">
                  <c:v>14006.64000000007</c:v>
                </c:pt>
                <c:pt idx="25">
                  <c:v>10533.260000000026</c:v>
                </c:pt>
                <c:pt idx="26">
                  <c:v>10522.880000000023</c:v>
                </c:pt>
                <c:pt idx="27">
                  <c:v>10390.300000000039</c:v>
                </c:pt>
                <c:pt idx="28">
                  <c:v>929.54</c:v>
                </c:pt>
                <c:pt idx="29">
                  <c:v>1229.4999999999993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3B-456F-8C2D-7024656AC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3888016"/>
        <c:axId val="1645397072"/>
      </c:lineChart>
      <c:catAx>
        <c:axId val="194388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397072"/>
        <c:crosses val="autoZero"/>
        <c:auto val="1"/>
        <c:lblAlgn val="ctr"/>
        <c:lblOffset val="100"/>
        <c:noMultiLvlLbl val="0"/>
      </c:catAx>
      <c:valAx>
        <c:axId val="164539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3888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[RAW Data from SQL Queries.xlsx]Sales_By_DayofWeek!PivotTable1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Revenue By Day Of Week</a:t>
            </a:r>
          </a:p>
        </c:rich>
      </c:tx>
      <c:layout>
        <c:manualLayout>
          <c:xMode val="edge"/>
          <c:yMode val="edge"/>
          <c:x val="0.31140921723019915"/>
          <c:y val="4.44390133085558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Sales_By_DayofWeek!$B$3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Sales_By_DayofWeek!$A$4:$A$11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Sales_By_DayofWeek!$B$4:$B$11</c:f>
              <c:numCache>
                <c:formatCode>General</c:formatCode>
                <c:ptCount val="7"/>
                <c:pt idx="0">
                  <c:v>98330.309999999808</c:v>
                </c:pt>
                <c:pt idx="1">
                  <c:v>101677.27999999988</c:v>
                </c:pt>
                <c:pt idx="2">
                  <c:v>99455.939999999944</c:v>
                </c:pt>
                <c:pt idx="3">
                  <c:v>100313.54000000046</c:v>
                </c:pt>
                <c:pt idx="4">
                  <c:v>100767.77999999965</c:v>
                </c:pt>
                <c:pt idx="5">
                  <c:v>101373.0000000002</c:v>
                </c:pt>
                <c:pt idx="6">
                  <c:v>96894.48000000036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2-4389-9E95-6F21456F4B3B}"/>
            </c:ext>
          </c:extLst>
        </c:ser>
        <c:ser>
          <c:idx val="1"/>
          <c:order val="1"/>
          <c:tx>
            <c:strRef>
              <c:f>Sales_By_DayofWeek!$C$3</c:f>
              <c:strCache>
                <c:ptCount val="1"/>
                <c:pt idx="0">
                  <c:v>Sum of unit_price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Sales_By_DayofWeek!$A$4:$A$11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Sales_By_DayofWeek!$C$4:$C$11</c:f>
              <c:numCache>
                <c:formatCode>General</c:formatCode>
                <c:ptCount val="7"/>
                <c:pt idx="0">
                  <c:v>71725.209999999817</c:v>
                </c:pt>
                <c:pt idx="1">
                  <c:v>72919.57999999974</c:v>
                </c:pt>
                <c:pt idx="2">
                  <c:v>71916.48999999954</c:v>
                </c:pt>
                <c:pt idx="3">
                  <c:v>72525.090000000069</c:v>
                </c:pt>
                <c:pt idx="4">
                  <c:v>72689.429999999847</c:v>
                </c:pt>
                <c:pt idx="5">
                  <c:v>73198.799999999857</c:v>
                </c:pt>
                <c:pt idx="6">
                  <c:v>69368.4299999996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72-4389-9E95-6F21456F4B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40163936"/>
        <c:axId val="1645400912"/>
      </c:barChart>
      <c:catAx>
        <c:axId val="1840163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400912"/>
        <c:crosses val="autoZero"/>
        <c:auto val="1"/>
        <c:lblAlgn val="ctr"/>
        <c:lblOffset val="100"/>
        <c:noMultiLvlLbl val="0"/>
      </c:catAx>
      <c:valAx>
        <c:axId val="164540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016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[RAW Data from SQL Queries.xlsx]Location_and _trends!PivotTable6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Store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'Location_and _trends'!$B$3</c:f>
              <c:strCache>
                <c:ptCount val="1"/>
                <c:pt idx="0">
                  <c:v>Sum of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'Location_and _trends'!$A$4:$A$7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'Location_and _trends'!$B$4:$B$7</c:f>
              <c:numCache>
                <c:formatCode>General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A-48EB-B2F7-4AD3F67A19A2}"/>
            </c:ext>
          </c:extLst>
        </c:ser>
        <c:ser>
          <c:idx val="1"/>
          <c:order val="1"/>
          <c:tx>
            <c:strRef>
              <c:f>'Location_and _trends'!$C$3</c:f>
              <c:strCache>
                <c:ptCount val="1"/>
                <c:pt idx="0">
                  <c:v>Sum of unit_price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'Location_and _trends'!$A$4:$A$7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'Location_and _trends'!$C$4:$C$7</c:f>
              <c:numCache>
                <c:formatCode>General</c:formatCode>
                <c:ptCount val="3"/>
                <c:pt idx="0">
                  <c:v>171272.41000000801</c:v>
                </c:pt>
                <c:pt idx="1">
                  <c:v>172205.67000000679</c:v>
                </c:pt>
                <c:pt idx="2">
                  <c:v>160864.95000000289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CA-48EB-B2F7-4AD3F67A19A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48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8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79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4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615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5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8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04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45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20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6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6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42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99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74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06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921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5709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847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0665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2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002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85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11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83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05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39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2BBA-4ADD-0A4A-3B06-A67C57872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6FE03-B074-DA17-5C40-17955C306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02DA0-0405-BCDB-F136-E597797E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6E501-B8A3-F1A1-91A3-901C98FD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5016-7402-2EEF-4C2A-07380C51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768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3851-165B-8F59-02D7-739BE74B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BBD5B-C7FA-0A25-0CD8-167465943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896A2-0BD6-2E93-9D69-BD88F7B0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3E7CD-0C71-1F12-08EC-A22F3589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9EE4-3899-F019-EA91-C6E38E86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64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ABF8-1B45-1F58-39B4-7B1F1A8D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4B145-7C97-94BD-9999-6B396F585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CB223-BC4E-AEC0-4663-74185F7D9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C74FF-D52D-4469-2F66-65FAB9FA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258D2-B1A9-6351-8CA6-CEE9F0D2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79C4-4379-7A6D-8C28-6DFE6554C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1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CE9A-D920-C2E2-6419-0AE435DE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E2FA7-90EE-A44C-823D-FFB13D506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4539D-6C78-9AD2-C2E6-28EEB6B6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133E-4E42-C216-B3DE-A8FDF21F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BBC-7923-EE5E-B67E-E72AE4B7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33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332E13FA-4314-4C4A-9055-10504A476E3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23E7E28-8197-4293-AB40-433D1EACFF5B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2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38DB85A-1335-44C1-CCF4-B55BABF45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72 Black" panose="020B0A04030603020204" pitchFamily="34" charset="0"/>
                <a:cs typeface="72 Black" panose="020B0A04030603020204" pitchFamily="34" charset="0"/>
              </a:rPr>
              <a:t>Bright Coffee Shop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200" dirty="0"/>
              <a:t>Your Welcome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9DBC79-F58C-CFC4-0C47-52ADA5D41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7471" b="1"/>
          <a:stretch>
            <a:fillRect/>
          </a:stretch>
        </p:blipFill>
        <p:spPr>
          <a:xfrm>
            <a:off x="4452257" y="239486"/>
            <a:ext cx="7260772" cy="646611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AC8DB5-FFC5-CDAF-12E9-68BBB9078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35" r="43917" b="7764"/>
          <a:stretch>
            <a:fillRect/>
          </a:stretch>
        </p:blipFill>
        <p:spPr>
          <a:xfrm>
            <a:off x="216027" y="2590800"/>
            <a:ext cx="3942316" cy="286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2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9A31-EEFF-0F49-B5A8-783435310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Bright Coffee 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1205A-E674-8740-D374-C3DA903F7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72 Black" panose="020B0A04030603020204" pitchFamily="34" charset="0"/>
                <a:cs typeface="72 Black" panose="020B0A04030603020204" pitchFamily="34" charset="0"/>
              </a:rPr>
              <a:t>Sales Performance Analysis</a:t>
            </a:r>
          </a:p>
          <a:p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transaction data — what's selling, when customers come in, and where the growth opportunities are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44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DCD4-08DC-C3F5-ECE7-EB06A7E8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0A17-21D1-82EA-069A-CDAA2BB4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– </a:t>
            </a:r>
            <a:r>
              <a:rPr lang="en-US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from six months of sales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– </a:t>
            </a:r>
            <a:r>
              <a:rPr lang="en-US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drive revenue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customers buy - </a:t>
            </a:r>
            <a:r>
              <a:rPr lang="en-US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trading hours and daily patterns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Locations &amp; trend - </a:t>
            </a:r>
            <a:r>
              <a:rPr lang="en-US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stores compare over time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- </a:t>
            </a:r>
            <a:r>
              <a:rPr lang="en-US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actions to grow revenue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5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1A1A-E795-B5CC-3CDD-4F3C3AE3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1046"/>
          </a:xfrm>
        </p:spPr>
        <p:txBody>
          <a:bodyPr>
            <a:normAutofit fontScale="90000"/>
          </a:bodyPr>
          <a:lstStyle/>
          <a:p>
            <a:r>
              <a:rPr lang="en-US" sz="2700" b="1" kern="0" spc="200" dirty="0">
                <a:solidFill>
                  <a:srgbClr val="B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7575-E289-144C-45EB-123C47B77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114"/>
            <a:ext cx="10515600" cy="542584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2A1810"/>
                </a:solidFill>
                <a:latin typeface="72 Black" panose="020B0A04030603020204" pitchFamily="34" charset="0"/>
                <a:ea typeface="Cambria" pitchFamily="34" charset="-122"/>
                <a:cs typeface="72 Black" panose="020B0A04030603020204" pitchFamily="34" charset="0"/>
              </a:rPr>
              <a:t>Six months at a glance</a:t>
            </a:r>
            <a:endParaRPr lang="en-US" sz="3600" dirty="0">
              <a:latin typeface="72 Black" panose="020B0A04030603020204" pitchFamily="34" charset="0"/>
              <a:cs typeface="72 Black" panose="020B0A04030603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Coffee and Tea are about two-thirds of revenue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Coffee is R269,952 (38.6%) and Tea is R196,406 (28.1%). Together          that is R466,358 of R698,812, which is 66.7% </a:t>
            </a: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All three stores and all seven days sit in a narrow band – Theres no weak store or day dragging the results down.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B525CC-CA69-C4D1-2A3E-5244889C64F7}"/>
              </a:ext>
            </a:extLst>
          </p:cNvPr>
          <p:cNvSpPr/>
          <p:nvPr/>
        </p:nvSpPr>
        <p:spPr>
          <a:xfrm>
            <a:off x="990601" y="1621971"/>
            <a:ext cx="2035628" cy="10450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B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R698,812</a:t>
            </a:r>
          </a:p>
          <a:p>
            <a:pPr algn="ctr"/>
            <a:r>
              <a:rPr lang="en-US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dirty="0"/>
          </a:p>
          <a:p>
            <a:pPr algn="ctr"/>
            <a:r>
              <a:rPr lang="en-US" dirty="0"/>
              <a:t>Jan – Jun 2023</a:t>
            </a:r>
          </a:p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A82A17-61AA-1F52-6F00-58920301BEC7}"/>
              </a:ext>
            </a:extLst>
          </p:cNvPr>
          <p:cNvSpPr/>
          <p:nvPr/>
        </p:nvSpPr>
        <p:spPr>
          <a:xfrm>
            <a:off x="3592286" y="1621971"/>
            <a:ext cx="2182586" cy="10450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B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dirty="0"/>
          </a:p>
          <a:p>
            <a:pPr algn="ctr"/>
            <a:r>
              <a:rPr lang="en-US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dirty="0"/>
          </a:p>
          <a:p>
            <a:pPr algn="ctr"/>
            <a:r>
              <a:rPr lang="en-US" dirty="0"/>
              <a:t>Across 3 Stores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1494D3-332A-FC03-20D8-4275BFC9E46C}"/>
              </a:ext>
            </a:extLst>
          </p:cNvPr>
          <p:cNvSpPr/>
          <p:nvPr/>
        </p:nvSpPr>
        <p:spPr>
          <a:xfrm>
            <a:off x="6417130" y="1621970"/>
            <a:ext cx="1959427" cy="10450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B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dirty="0"/>
          </a:p>
          <a:p>
            <a:pPr algn="ctr"/>
            <a:r>
              <a:rPr lang="en-US" dirty="0"/>
              <a:t>Unit Sold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2AA1B8-7BD9-5669-2192-90FF4C476E35}"/>
              </a:ext>
            </a:extLst>
          </p:cNvPr>
          <p:cNvSpPr/>
          <p:nvPr/>
        </p:nvSpPr>
        <p:spPr>
          <a:xfrm>
            <a:off x="9171213" y="1621969"/>
            <a:ext cx="1959427" cy="10450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B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R4.69</a:t>
            </a:r>
            <a:endParaRPr lang="en-US" dirty="0"/>
          </a:p>
          <a:p>
            <a:pPr algn="ctr"/>
            <a:r>
              <a:rPr lang="en-US" dirty="0"/>
              <a:t>Avg Transaction Value </a:t>
            </a:r>
          </a:p>
        </p:txBody>
      </p:sp>
    </p:spTree>
    <p:extLst>
      <p:ext uri="{BB962C8B-B14F-4D97-AF65-F5344CB8AC3E}">
        <p14:creationId xmlns:p14="http://schemas.microsoft.com/office/powerpoint/2010/main" val="53859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7D26-FC6D-E1EF-5BE6-DB73942F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Product performance</a:t>
            </a:r>
            <a:br>
              <a:rPr lang="en-US" dirty="0"/>
            </a:br>
            <a:r>
              <a:rPr lang="en-US" sz="3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and Tea are the growth engine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426413-801C-676D-8A6C-75AEA8612B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805136"/>
              </p:ext>
            </p:extLst>
          </p:nvPr>
        </p:nvGraphicFramePr>
        <p:xfrm>
          <a:off x="838200" y="1825625"/>
          <a:ext cx="60198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19D51F0D-EADF-ED2A-D44B-C585FB14CE21}"/>
              </a:ext>
            </a:extLst>
          </p:cNvPr>
          <p:cNvSpPr/>
          <p:nvPr/>
        </p:nvSpPr>
        <p:spPr>
          <a:xfrm>
            <a:off x="7347857" y="1992086"/>
            <a:ext cx="4310743" cy="4669971"/>
          </a:xfrm>
          <a:prstGeom prst="roundRect">
            <a:avLst>
              <a:gd name="adj" fmla="val 2078"/>
            </a:avLst>
          </a:prstGeom>
          <a:solidFill>
            <a:srgbClr val="3C2415"/>
          </a:solidFill>
          <a:ln/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Coffee: 39%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Tea: 28%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Bakery: 12%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Drinking Chocolate : 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The remaining 5 Category combined is 11% of the revenue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83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069B-D05E-1CE5-2FC9-835B96A5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</a:t>
            </a:r>
            <a:b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sellers vs. underperformers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1125C-8FAD-2DB6-5615-82293CB6A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985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72 Black" panose="020B0A04030603020204" pitchFamily="34" charset="0"/>
                <a:cs typeface="72 Black" panose="020B0A04030603020204" pitchFamily="34" charset="0"/>
              </a:rPr>
              <a:t>Top 5 Products By Revenue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Sustainably grown organic (Lg Hot Chocolate)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Dark Chocolate Lg(Hot Chocolate)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Latte </a:t>
            </a:r>
            <a:r>
              <a:rPr lang="en-US" dirty="0" err="1"/>
              <a:t>Rg</a:t>
            </a:r>
            <a:r>
              <a:rPr lang="en-US" dirty="0"/>
              <a:t> (Barista Espresso)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Cuppaccino</a:t>
            </a:r>
            <a:r>
              <a:rPr lang="en-US" dirty="0"/>
              <a:t> Lg (Barista Espresso)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Morning Sunrise Lg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92C4D-12F6-0ADF-FAD2-D5722EC97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877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72 Black" panose="020B0A04030603020204" pitchFamily="34" charset="0"/>
                <a:cs typeface="72 Black" panose="020B0A04030603020204" pitchFamily="34" charset="0"/>
              </a:rPr>
              <a:t>Bottom 5 Products By Revenue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Traditional Chai Blend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Peppermint (Herbal Tea)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Lemon Grass (Herbal Tea)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Spicy eye opener Chai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Dark Chocolate (</a:t>
            </a:r>
            <a:r>
              <a:rPr lang="en-US" dirty="0" err="1"/>
              <a:t>Sm</a:t>
            </a:r>
            <a:r>
              <a:rPr lang="en-US" dirty="0"/>
              <a:t> Hot Choc.)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F2F05-8ED2-C009-8A5E-C5F8E083502D}"/>
              </a:ext>
            </a:extLst>
          </p:cNvPr>
          <p:cNvSpPr txBox="1"/>
          <p:nvPr/>
        </p:nvSpPr>
        <p:spPr>
          <a:xfrm>
            <a:off x="925286" y="5127171"/>
            <a:ext cx="10428514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Insight: </a:t>
            </a:r>
            <a:r>
              <a:rPr lang="en-US" dirty="0"/>
              <a:t>Premium, larger-format drinks (Lg hot chocolate, espresso-based drinks) dominate the top sellers — customers are willing to pay for size and quality. The weakest items are mostly single-</a:t>
            </a:r>
            <a:r>
              <a:rPr lang="en-US" dirty="0" err="1"/>
              <a:t>flavour</a:t>
            </a:r>
            <a:r>
              <a:rPr lang="en-US" dirty="0"/>
              <a:t> herbal/chai teas in small format.</a:t>
            </a:r>
          </a:p>
        </p:txBody>
      </p:sp>
    </p:spTree>
    <p:extLst>
      <p:ext uri="{BB962C8B-B14F-4D97-AF65-F5344CB8AC3E}">
        <p14:creationId xmlns:p14="http://schemas.microsoft.com/office/powerpoint/2010/main" val="105395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E408-CD5E-2112-1270-BDF86C4D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dirty="0"/>
              <a:t>When Do Customers Buy?</a:t>
            </a:r>
            <a:br>
              <a:rPr lang="en-US" dirty="0"/>
            </a:b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Mornings carry the business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701FEF-7D8E-3ED6-9DD0-EC307CC6C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044825"/>
              </p:ext>
            </p:extLst>
          </p:nvPr>
        </p:nvGraphicFramePr>
        <p:xfrm>
          <a:off x="805543" y="1587727"/>
          <a:ext cx="10515600" cy="2940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9E63AE-D017-0B5B-ECDB-044CA6EF03DB}"/>
              </a:ext>
            </a:extLst>
          </p:cNvPr>
          <p:cNvSpPr txBox="1"/>
          <p:nvPr/>
        </p:nvSpPr>
        <p:spPr>
          <a:xfrm>
            <a:off x="838199" y="4920343"/>
            <a:ext cx="10091057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Peak window:  8:00–11:00am</a:t>
            </a:r>
            <a:r>
              <a:rPr lang="en-US" dirty="0">
                <a:solidFill>
                  <a:schemeClr val="tx1"/>
                </a:solidFill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 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highest revenue of the day, roughly double the afternoon plateau (~$20k per 30-min slot from 11am–6pm). Revenue fades further after 6pm and is negligible after 8pm — worth checking if that reflects closing time or a genuine lull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16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C9D4-EB3D-EDA0-7BD3-8365AA5C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b="1" kern="0" spc="200" dirty="0">
                <a:solidFill>
                  <a:srgbClr val="B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&amp; PATTERNS</a:t>
            </a:r>
            <a:br>
              <a:rPr lang="en-US" dirty="0"/>
            </a:br>
            <a:r>
              <a:rPr lang="en-US" sz="31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performance across days and stores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385A33-463B-C5BF-5DCD-4AE7BFF197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64999669"/>
              </p:ext>
            </p:extLst>
          </p:nvPr>
        </p:nvGraphicFramePr>
        <p:xfrm>
          <a:off x="1110343" y="1892528"/>
          <a:ext cx="5181600" cy="3715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61E215D-0E65-42D4-DA56-39CB3B432FB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33173782"/>
              </p:ext>
            </p:extLst>
          </p:nvPr>
        </p:nvGraphicFramePr>
        <p:xfrm>
          <a:off x="6400802" y="1954213"/>
          <a:ext cx="5181600" cy="3715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722BE67-6EDF-3CC5-5E61-24EA0D0954B1}"/>
              </a:ext>
            </a:extLst>
          </p:cNvPr>
          <p:cNvSpPr txBox="1"/>
          <p:nvPr/>
        </p:nvSpPr>
        <p:spPr>
          <a:xfrm>
            <a:off x="1110343" y="5921829"/>
            <a:ext cx="1024345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 single day or store is meaningfully underperforming — the revenue gap between the strongest and weakest is under 5% in both views</a:t>
            </a:r>
          </a:p>
        </p:txBody>
      </p:sp>
    </p:spTree>
    <p:extLst>
      <p:ext uri="{BB962C8B-B14F-4D97-AF65-F5344CB8AC3E}">
        <p14:creationId xmlns:p14="http://schemas.microsoft.com/office/powerpoint/2010/main" val="398862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D35A-7489-CD08-493C-13EDEB0B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br>
              <a:rPr lang="en-US" dirty="0"/>
            </a:br>
            <a:r>
              <a:rPr lang="en-US" b="1" dirty="0">
                <a:latin typeface="72 Black" panose="020B0A04030603020204" pitchFamily="34" charset="0"/>
                <a:cs typeface="72 Black" panose="020B0A04030603020204" pitchFamily="34" charset="0"/>
              </a:rPr>
              <a:t>Three moves to grow revenue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10463-9F18-2B78-1693-9ED457F70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&amp; expand the morning rush</a:t>
            </a:r>
          </a:p>
          <a:p>
            <a:pPr lvl="1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8–11am is the single biggest revenue driver. Ensure staffing and stock (especially Barista Espresso and Hot Chocolate) are optimized for this window and test a small breakfast-pairing upsell.</a:t>
            </a:r>
          </a:p>
          <a:p>
            <a:r>
              <a:rPr lang="en-US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Fill the evening lull</a:t>
            </a:r>
            <a:endParaRPr lang="en-US" dirty="0"/>
          </a:p>
          <a:p>
            <a:pPr lvl="1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 a targeted promotion or loyalty offer for the 6–9pm window, where revenue drops to a fraction of the morning peak — e.g. a "second cup" discount or evening snack pairing.</a:t>
            </a:r>
          </a:p>
          <a:p>
            <a:r>
              <a:rPr lang="en-US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Rework or retire slow movers</a:t>
            </a:r>
            <a:endParaRPr lang="en-US" dirty="0"/>
          </a:p>
          <a:p>
            <a:pPr lvl="1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Small-format herbal and chai teas consistently underperform. Consider bundling them into larger sizes, featuring them in a "discovery" flight, or phasing out the weakest SKUs to simplify the menu.</a:t>
            </a:r>
            <a:endParaRPr lang="en-US" dirty="0"/>
          </a:p>
          <a:p>
            <a:pPr marL="845820" lvl="1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52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19F8-E2BF-3FC3-84F1-B4B5AA76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b="1" dirty="0"/>
              <a:t>Next steps</a:t>
            </a:r>
            <a:br>
              <a:rPr lang="en-US" dirty="0"/>
            </a:br>
            <a:r>
              <a:rPr lang="en-US" b="1" dirty="0">
                <a:latin typeface="72 Black" panose="020B0A04030603020204" pitchFamily="34" charset="0"/>
                <a:cs typeface="72 Black" panose="020B0A04030603020204" pitchFamily="34" charset="0"/>
              </a:rPr>
              <a:t>What is the plan for the future?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68B25-F698-33DA-E2B1-6AAF12D59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daily sales reporting</a:t>
            </a:r>
            <a:endParaRPr lang="en-US" dirty="0"/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analysis with a scheduled pipeline (Databricks + refreshed dashboard) so the team sees performance daily, not months later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performance across locations</a:t>
            </a:r>
            <a:endParaRPr lang="en-US" dirty="0"/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 the business expands, extend this analysis framework to benchmark new stores against Hell's Kitchen, Astoria, and Lower Manha</a:t>
            </a:r>
            <a:r>
              <a:rPr lang="en-US" i="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</a:rPr>
              <a:t>3. Launch a loyalty </a:t>
            </a:r>
            <a:r>
              <a:rPr lang="en-US" b="1" dirty="0" err="1">
                <a:solidFill>
                  <a:srgbClr val="2A1810"/>
                </a:solidFill>
                <a:latin typeface="Cambria" pitchFamily="34" charset="0"/>
                <a:ea typeface="Cambria" pitchFamily="34" charset="-122"/>
              </a:rPr>
              <a:t>programme</a:t>
            </a:r>
            <a:endParaRPr lang="en-US" b="1" dirty="0">
              <a:solidFill>
                <a:srgbClr val="2A1810"/>
              </a:solidFill>
              <a:latin typeface="Cambria" pitchFamily="34" charset="0"/>
              <a:ea typeface="Cambria" pitchFamily="34" charset="-122"/>
            </a:endParaRP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peak time-slot data to design rewards that both reinforce the morning rush and </a:t>
            </a:r>
            <a:r>
              <a:rPr lang="en-US" i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</a:t>
            </a:r>
            <a:r>
              <a:rPr lang="en-US" i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visits during quieter hours.</a:t>
            </a:r>
          </a:p>
          <a:p>
            <a:pPr marL="0" indent="0">
              <a:buNone/>
            </a:pPr>
            <a:endParaRPr lang="en-US" sz="1400" b="1" dirty="0">
              <a:solidFill>
                <a:srgbClr val="2A181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20703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B04B-2EF3-5F0F-66A2-D28860C4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Questions and Discussions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56930-61C6-7D59-AED7-3A4109FF4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21" b="4861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2619902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126</TotalTime>
  <Words>676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72 Black</vt:lpstr>
      <vt:lpstr>Aptos</vt:lpstr>
      <vt:lpstr>Arial</vt:lpstr>
      <vt:lpstr>Calibri</vt:lpstr>
      <vt:lpstr>Cambria</vt:lpstr>
      <vt:lpstr>Felix Titling</vt:lpstr>
      <vt:lpstr>Goudy Old Style</vt:lpstr>
      <vt:lpstr>Wingdings</vt:lpstr>
      <vt:lpstr>Archway</vt:lpstr>
      <vt:lpstr>Bright Coffee Shop         Your Welcome</vt:lpstr>
      <vt:lpstr>Bright Coffee Shop</vt:lpstr>
      <vt:lpstr>Agenda</vt:lpstr>
      <vt:lpstr>EXECUTIVE SUMMARY </vt:lpstr>
      <vt:lpstr>Product performance Coffee and Tea are the growth engine </vt:lpstr>
      <vt:lpstr>Product performance  Best sellers vs. underperformers</vt:lpstr>
      <vt:lpstr>When Do Customers Buy? Mornings carry the business </vt:lpstr>
      <vt:lpstr>LOCATIONS &amp; PATTERNS Consistent performance across days and stores </vt:lpstr>
      <vt:lpstr>RECOMMENDATIONS Three moves to grow revenue </vt:lpstr>
      <vt:lpstr>Next steps What is the plan for the future?</vt:lpstr>
      <vt:lpstr>Questions and Discussions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Renolda Masekoameng</dc:creator>
  <cp:lastModifiedBy>Renolda Masekoameng</cp:lastModifiedBy>
  <cp:revision>1</cp:revision>
  <dcterms:created xsi:type="dcterms:W3CDTF">2026-10-11T16:21:33Z</dcterms:created>
  <dcterms:modified xsi:type="dcterms:W3CDTF">2026-10-11T18:28:21Z</dcterms:modified>
</cp:coreProperties>
</file>